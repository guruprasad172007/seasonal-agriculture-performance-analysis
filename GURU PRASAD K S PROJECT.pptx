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66" d="100"/>
          <a:sy n="66" d="100"/>
        </p:scale>
        <p:origin x="1234" y="413"/>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5"/>
            <a:ext cx="5327002" cy="743448"/>
          </a:xfrm>
        </p:spPr>
        <p:txBody>
          <a:bodyPr vert="horz" lIns="91440" tIns="45720" rIns="91440" bIns="45720" rtlCol="0" anchor="t">
            <a:normAutofit/>
          </a:bodyPr>
          <a:lstStyle/>
          <a:p>
            <a:pPr algn="r"/>
            <a:endParaRPr lang="en-US" b="0" dirty="0">
              <a:solidFill>
                <a:schemeClr val="tx1"/>
              </a:solidFill>
            </a:endParaRP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6586037" cy="743448"/>
          </a:xfrm>
        </p:spPr>
        <p:txBody>
          <a:bodyPr>
            <a:normAutofit fontScale="90000"/>
          </a:bodyPr>
          <a:lstStyle/>
          <a:p>
            <a:r>
              <a:rPr lang="en-IN" b="1"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5" name="TextBox 4">
            <a:extLst>
              <a:ext uri="{FF2B5EF4-FFF2-40B4-BE49-F238E27FC236}">
                <a16:creationId xmlns:a16="http://schemas.microsoft.com/office/drawing/2014/main" id="{1CEBD770-ECC5-7A74-5372-44F07C61EA31}"/>
              </a:ext>
            </a:extLst>
          </p:cNvPr>
          <p:cNvSpPr txBox="1"/>
          <p:nvPr/>
        </p:nvSpPr>
        <p:spPr>
          <a:xfrm>
            <a:off x="30480" y="4033520"/>
            <a:ext cx="184731" cy="369332"/>
          </a:xfrm>
          <a:prstGeom prst="rect">
            <a:avLst/>
          </a:prstGeom>
          <a:noFill/>
        </p:spPr>
        <p:txBody>
          <a:bodyPr wrap="none" rtlCol="0">
            <a:spAutoFit/>
          </a:bodyPr>
          <a:lstStyle/>
          <a:p>
            <a:endParaRPr lang="en-IN" dirty="0"/>
          </a:p>
        </p:txBody>
      </p:sp>
      <p:sp>
        <p:nvSpPr>
          <p:cNvPr id="7" name="TextBox 6">
            <a:extLst>
              <a:ext uri="{FF2B5EF4-FFF2-40B4-BE49-F238E27FC236}">
                <a16:creationId xmlns:a16="http://schemas.microsoft.com/office/drawing/2014/main" id="{0BE87FE3-D523-C6B0-0966-91F3B1ED715A}"/>
              </a:ext>
            </a:extLst>
          </p:cNvPr>
          <p:cNvSpPr txBox="1"/>
          <p:nvPr/>
        </p:nvSpPr>
        <p:spPr>
          <a:xfrm>
            <a:off x="784264" y="3664188"/>
            <a:ext cx="3312160" cy="369332"/>
          </a:xfrm>
          <a:prstGeom prst="rect">
            <a:avLst/>
          </a:prstGeom>
          <a:noFill/>
        </p:spPr>
        <p:txBody>
          <a:bodyPr wrap="square" rtlCol="0">
            <a:spAutoFit/>
          </a:bodyPr>
          <a:lstStyle/>
          <a:p>
            <a:r>
              <a:rPr lang="en-US" dirty="0"/>
              <a:t>GURU PRASAD K S</a:t>
            </a:r>
            <a:endParaRPr lang="en-IN" dirty="0"/>
          </a:p>
        </p:txBody>
      </p:sp>
      <p:sp>
        <p:nvSpPr>
          <p:cNvPr id="8" name="TextBox 7">
            <a:extLst>
              <a:ext uri="{FF2B5EF4-FFF2-40B4-BE49-F238E27FC236}">
                <a16:creationId xmlns:a16="http://schemas.microsoft.com/office/drawing/2014/main" id="{7AF86CA1-5382-50FF-24C0-B385356627C6}"/>
              </a:ext>
            </a:extLst>
          </p:cNvPr>
          <p:cNvSpPr txBox="1"/>
          <p:nvPr/>
        </p:nvSpPr>
        <p:spPr>
          <a:xfrm>
            <a:off x="784264" y="4179645"/>
            <a:ext cx="5496560" cy="369332"/>
          </a:xfrm>
          <a:prstGeom prst="rect">
            <a:avLst/>
          </a:prstGeom>
          <a:noFill/>
        </p:spPr>
        <p:txBody>
          <a:bodyPr wrap="square" rtlCol="0">
            <a:spAutoFit/>
          </a:bodyPr>
          <a:lstStyle/>
          <a:p>
            <a:r>
              <a:rPr lang="en-US" dirty="0"/>
              <a:t>KPR INSTITUTE OF ENGINNERING AND TECHNOLOGY</a:t>
            </a:r>
            <a:endParaRPr lang="en-IN" dirty="0"/>
          </a:p>
        </p:txBody>
      </p:sp>
      <p:sp>
        <p:nvSpPr>
          <p:cNvPr id="10" name="TextBox 9">
            <a:extLst>
              <a:ext uri="{FF2B5EF4-FFF2-40B4-BE49-F238E27FC236}">
                <a16:creationId xmlns:a16="http://schemas.microsoft.com/office/drawing/2014/main" id="{583A88B4-300F-B3B5-296C-48080C4D0EA9}"/>
              </a:ext>
            </a:extLst>
          </p:cNvPr>
          <p:cNvSpPr txBox="1"/>
          <p:nvPr/>
        </p:nvSpPr>
        <p:spPr>
          <a:xfrm>
            <a:off x="784264" y="4695102"/>
            <a:ext cx="4942379" cy="369332"/>
          </a:xfrm>
          <a:prstGeom prst="rect">
            <a:avLst/>
          </a:prstGeom>
          <a:noFill/>
        </p:spPr>
        <p:txBody>
          <a:bodyPr wrap="none" rtlCol="0">
            <a:spAutoFit/>
          </a:bodyPr>
          <a:lstStyle/>
          <a:p>
            <a:r>
              <a:rPr lang="en-US" dirty="0"/>
              <a:t>AICTE STU ID : STU6a4b2310c87b31783309072</a:t>
            </a:r>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763796"/>
            <a:ext cx="6431280" cy="3607987"/>
          </a:xfrm>
        </p:spPr>
        <p:txBody>
          <a:bodyPr vert="horz" lIns="91440" tIns="45720" rIns="91440" bIns="45720" rtlCol="0" anchor="t">
            <a:normAutofit fontScale="55000" lnSpcReduction="20000"/>
          </a:bodyPr>
          <a:lstStyle/>
          <a:p>
            <a:pPr>
              <a:lnSpc>
                <a:spcPct val="15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IN" sz="2000" b="0" dirty="0"/>
              <a:t>Agricultural performance is affected by seasonal changes in environmental conditions, farming practices, irrigation methods, resource usage, and market conditions. These factors can influence crop yield, production, water efficiency, revenue, and profit. However, it is difficult to understand these variations directly from raw agricultural data. Therefore, this project </a:t>
            </a:r>
            <a:r>
              <a:rPr lang="en-IN" sz="2000" b="0" dirty="0" err="1"/>
              <a:t>analyzes</a:t>
            </a:r>
            <a:r>
              <a:rPr lang="en-IN" sz="2000" b="0" dirty="0"/>
              <a:t> the agricultural dataset to compare performance across different seasons and identify important patterns, relationships, and factors affecting agricultural productivity and profitability.</a:t>
            </a:r>
            <a:br>
              <a:rPr lang="en-GB" b="0" dirty="0"/>
            </a:br>
            <a:endParaRPr lang="en-IN"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85000" lnSpcReduction="20000"/>
          </a:bodyPr>
          <a:lstStyle/>
          <a:p>
            <a:r>
              <a:rPr lang="en-IN" sz="2600" dirty="0"/>
              <a:t>The main end users of this project are:</a:t>
            </a:r>
          </a:p>
          <a:p>
            <a:pPr lvl="0"/>
            <a:r>
              <a:rPr lang="en-IN" sz="2600" b="1" dirty="0"/>
              <a:t>Farmers</a:t>
            </a:r>
            <a:r>
              <a:rPr lang="en-IN" sz="2600" dirty="0"/>
              <a:t> – To understand crop performance and improve farming decisions. </a:t>
            </a:r>
          </a:p>
          <a:p>
            <a:pPr lvl="0"/>
            <a:r>
              <a:rPr lang="en-IN" sz="2600" b="1" dirty="0"/>
              <a:t>Agricultural Officers</a:t>
            </a:r>
            <a:r>
              <a:rPr lang="en-IN" sz="2600" dirty="0"/>
              <a:t> – To monitor seasonal agricultural performance and provide guidance. </a:t>
            </a:r>
          </a:p>
          <a:p>
            <a:pPr lvl="0"/>
            <a:r>
              <a:rPr lang="en-IN" sz="2600" b="1" dirty="0"/>
              <a:t>Agricultural Researchers</a:t>
            </a:r>
            <a:r>
              <a:rPr lang="en-IN" sz="2600" dirty="0"/>
              <a:t> – To study trends and relationships in agricultural data. </a:t>
            </a:r>
          </a:p>
          <a:p>
            <a:pPr lvl="0"/>
            <a:r>
              <a:rPr lang="en-IN" sz="2600" b="1" dirty="0"/>
              <a:t>Government Departments</a:t>
            </a:r>
            <a:r>
              <a:rPr lang="en-IN" sz="2600" dirty="0"/>
              <a:t> – To support agricultural planning and policy decisions. </a:t>
            </a:r>
          </a:p>
          <a:p>
            <a:pPr lvl="0"/>
            <a:r>
              <a:rPr lang="en-IN" sz="2600" b="1" dirty="0"/>
              <a:t>Agribusiness Companies</a:t>
            </a:r>
            <a:r>
              <a:rPr lang="en-IN" sz="2600" dirty="0"/>
              <a:t> – To understand crop production, profitability, and resource usage.</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52839" y="1463105"/>
            <a:ext cx="9027702" cy="5243448"/>
          </a:xfrm>
        </p:spPr>
        <p:txBody>
          <a:bodyPr/>
          <a:lstStyle/>
          <a:p>
            <a:pPr lvl="0"/>
            <a:r>
              <a:rPr lang="en-IN" sz="1800" b="1" dirty="0"/>
              <a:t>Python</a:t>
            </a:r>
            <a:r>
              <a:rPr lang="en-IN" sz="1800" dirty="0"/>
              <a:t> – Programming language used for data analysis. </a:t>
            </a:r>
          </a:p>
          <a:p>
            <a:pPr lvl="0"/>
            <a:r>
              <a:rPr lang="en-IN" sz="1800" b="1" dirty="0"/>
              <a:t>Google </a:t>
            </a:r>
            <a:r>
              <a:rPr lang="en-IN" sz="1800" b="1" dirty="0" err="1"/>
              <a:t>Colab</a:t>
            </a:r>
            <a:r>
              <a:rPr lang="en-IN" sz="1800" dirty="0"/>
              <a:t> – Platform used to write and execute Python code. </a:t>
            </a:r>
          </a:p>
          <a:p>
            <a:pPr lvl="0"/>
            <a:r>
              <a:rPr lang="en-IN" sz="1800" b="1" dirty="0"/>
              <a:t>Pandas</a:t>
            </a:r>
            <a:r>
              <a:rPr lang="en-IN" sz="1800" dirty="0"/>
              <a:t> – Data cleaning and data manipulation. </a:t>
            </a:r>
          </a:p>
          <a:p>
            <a:pPr lvl="0"/>
            <a:r>
              <a:rPr lang="en-IN" sz="1800" b="1" dirty="0"/>
              <a:t>NumPy</a:t>
            </a:r>
            <a:r>
              <a:rPr lang="en-IN" sz="1800" dirty="0"/>
              <a:t> – Numerical calculations. </a:t>
            </a:r>
          </a:p>
          <a:p>
            <a:pPr lvl="0"/>
            <a:r>
              <a:rPr lang="en-IN" sz="1800" b="1" dirty="0"/>
              <a:t>Matplotlib</a:t>
            </a:r>
            <a:r>
              <a:rPr lang="en-IN" sz="1800" dirty="0"/>
              <a:t> – Data visualization. </a:t>
            </a:r>
          </a:p>
          <a:p>
            <a:pPr lvl="0"/>
            <a:r>
              <a:rPr lang="en-IN" sz="1800" b="1" dirty="0"/>
              <a:t>Seaborn</a:t>
            </a:r>
            <a:r>
              <a:rPr lang="en-IN" sz="1800" dirty="0"/>
              <a:t> – Statistical graphs and visualizations. </a:t>
            </a:r>
          </a:p>
          <a:p>
            <a:pPr lvl="0"/>
            <a:r>
              <a:rPr lang="en-IN" sz="1800" b="1" dirty="0"/>
              <a:t>SciPy</a:t>
            </a:r>
            <a:r>
              <a:rPr lang="en-IN" sz="1800" dirty="0"/>
              <a:t> – Statistical analysis and ANOVA testing. </a:t>
            </a:r>
          </a:p>
          <a:p>
            <a:pPr lvl="0"/>
            <a:r>
              <a:rPr lang="en-IN" sz="1800" b="1" dirty="0"/>
              <a:t>CSV Dataset</a:t>
            </a:r>
            <a:r>
              <a:rPr lang="en-IN" sz="1800" dirty="0"/>
              <a:t> – Used as the main agricultural data source.</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endParaRPr lang="en-IN" dirty="0"/>
          </a:p>
        </p:txBody>
      </p:sp>
      <p:pic>
        <p:nvPicPr>
          <p:cNvPr id="3" name="Picture 2">
            <a:extLst>
              <a:ext uri="{FF2B5EF4-FFF2-40B4-BE49-F238E27FC236}">
                <a16:creationId xmlns:a16="http://schemas.microsoft.com/office/drawing/2014/main" id="{A004F9B8-9300-21FB-FE92-E409132A5F2B}"/>
              </a:ext>
            </a:extLst>
          </p:cNvPr>
          <p:cNvPicPr>
            <a:picLocks noChangeAspect="1"/>
          </p:cNvPicPr>
          <p:nvPr/>
        </p:nvPicPr>
        <p:blipFill>
          <a:blip r:embed="rId3"/>
          <a:stretch>
            <a:fillRect/>
          </a:stretch>
        </p:blipFill>
        <p:spPr>
          <a:xfrm>
            <a:off x="405114" y="1238653"/>
            <a:ext cx="8414796" cy="542630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52B28582-BDB3-B011-C3E3-8C40FD823428}"/>
              </a:ext>
            </a:extLst>
          </p:cNvPr>
          <p:cNvPicPr>
            <a:picLocks noChangeAspect="1"/>
          </p:cNvPicPr>
          <p:nvPr/>
        </p:nvPicPr>
        <p:blipFill>
          <a:blip r:embed="rId3"/>
          <a:stretch>
            <a:fillRect/>
          </a:stretch>
        </p:blipFill>
        <p:spPr>
          <a:xfrm>
            <a:off x="293974" y="1158181"/>
            <a:ext cx="9417185" cy="532923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DBB22DCF-82AF-FC10-A56A-B28B1D391C23}"/>
              </a:ext>
            </a:extLst>
          </p:cNvPr>
          <p:cNvPicPr>
            <a:picLocks noChangeAspect="1"/>
          </p:cNvPicPr>
          <p:nvPr/>
        </p:nvPicPr>
        <p:blipFill>
          <a:blip r:embed="rId3"/>
          <a:stretch>
            <a:fillRect/>
          </a:stretch>
        </p:blipFill>
        <p:spPr>
          <a:xfrm>
            <a:off x="220935" y="1275371"/>
            <a:ext cx="9722734" cy="509070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1BEAE383-F599-AF9A-587D-BFF3C20EFDA6}"/>
              </a:ext>
            </a:extLst>
          </p:cNvPr>
          <p:cNvPicPr>
            <a:picLocks noChangeAspect="1"/>
          </p:cNvPicPr>
          <p:nvPr/>
        </p:nvPicPr>
        <p:blipFill>
          <a:blip r:embed="rId3"/>
          <a:stretch>
            <a:fillRect/>
          </a:stretch>
        </p:blipFill>
        <p:spPr>
          <a:xfrm>
            <a:off x="320982" y="1066673"/>
            <a:ext cx="9517499" cy="550176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5809D014-C7BB-FE83-0A6A-65F3B694F916}"/>
              </a:ext>
            </a:extLst>
          </p:cNvPr>
          <p:cNvPicPr>
            <a:picLocks noChangeAspect="1"/>
          </p:cNvPicPr>
          <p:nvPr/>
        </p:nvPicPr>
        <p:blipFill>
          <a:blip r:embed="rId3"/>
          <a:stretch>
            <a:fillRect/>
          </a:stretch>
        </p:blipFill>
        <p:spPr>
          <a:xfrm>
            <a:off x="320982" y="1097167"/>
            <a:ext cx="9390177" cy="547127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CDBBA964-BC94-EAC0-F441-98A1C0DF1736}"/>
              </a:ext>
            </a:extLst>
          </p:cNvPr>
          <p:cNvSpPr txBox="1"/>
          <p:nvPr/>
        </p:nvSpPr>
        <p:spPr>
          <a:xfrm>
            <a:off x="3032567" y="2083443"/>
            <a:ext cx="184731" cy="369332"/>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11EEEC17-FF71-225F-8DA4-5F15CD31552E}"/>
              </a:ext>
            </a:extLst>
          </p:cNvPr>
          <p:cNvSpPr txBox="1"/>
          <p:nvPr/>
        </p:nvSpPr>
        <p:spPr>
          <a:xfrm>
            <a:off x="675957" y="1608410"/>
            <a:ext cx="5967911" cy="3170099"/>
          </a:xfrm>
          <a:prstGeom prst="rect">
            <a:avLst/>
          </a:prstGeom>
          <a:noFill/>
        </p:spPr>
        <p:txBody>
          <a:bodyPr wrap="square" rtlCol="0">
            <a:spAutoFit/>
          </a:bodyPr>
          <a:lstStyle/>
          <a:p>
            <a:r>
              <a:rPr lang="en-IN" sz="2000" dirty="0"/>
              <a:t>In the future, this project can be improved by using </a:t>
            </a:r>
            <a:r>
              <a:rPr lang="en-IN" sz="2000" b="1" dirty="0"/>
              <a:t>machine learning models</a:t>
            </a:r>
            <a:r>
              <a:rPr lang="en-IN" sz="2000" dirty="0"/>
              <a:t> to predict crop yield and profit. Real-time weather and soil data can be included for better predictions. A </a:t>
            </a:r>
            <a:r>
              <a:rPr lang="en-IN" sz="2000" b="1" dirty="0"/>
              <a:t>farmer-friendly dashboard or mobile application</a:t>
            </a:r>
            <a:r>
              <a:rPr lang="en-IN" sz="2000" dirty="0"/>
              <a:t> can also be developed to provide recommendations on irrigation, fertilizers, pest control, and suitable crops. The system can further be expanded to support </a:t>
            </a:r>
            <a:r>
              <a:rPr lang="en-IN" sz="2000" b="1" dirty="0"/>
              <a:t>real-time monitoring and smart farming decisions</a:t>
            </a:r>
            <a:endParaRPr lang="en-IN"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74B7EA8-3BE0-4114-E54C-72369C382E42}"/>
              </a:ext>
            </a:extLst>
          </p:cNvPr>
          <p:cNvSpPr txBox="1"/>
          <p:nvPr/>
        </p:nvSpPr>
        <p:spPr>
          <a:xfrm>
            <a:off x="675957" y="1692068"/>
            <a:ext cx="5805866" cy="646331"/>
          </a:xfrm>
          <a:prstGeom prst="rect">
            <a:avLst/>
          </a:prstGeom>
          <a:noFill/>
        </p:spPr>
        <p:txBody>
          <a:bodyPr wrap="square" rtlCol="0">
            <a:spAutoFit/>
          </a:bodyPr>
          <a:lstStyle/>
          <a:p>
            <a:r>
              <a:rPr lang="en-IN" dirty="0"/>
              <a:t>https://github.com/guruprasad172007/Seasonal-Agriculture-Performance-Analysis.git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03A11EB2-E820-2718-EB1E-45DDF259FE28}"/>
              </a:ext>
            </a:extLst>
          </p:cNvPr>
          <p:cNvPicPr>
            <a:picLocks noChangeAspect="1"/>
          </p:cNvPicPr>
          <p:nvPr/>
        </p:nvPicPr>
        <p:blipFill>
          <a:blip r:embed="rId3"/>
          <a:stretch>
            <a:fillRect/>
          </a:stretch>
        </p:blipFill>
        <p:spPr>
          <a:xfrm>
            <a:off x="675957" y="1513840"/>
            <a:ext cx="8093141" cy="454557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608942" y="3262457"/>
            <a:ext cx="11340000" cy="700114"/>
          </a:xfrm>
          <a:prstGeom prst="rect">
            <a:avLst/>
          </a:prstGeom>
        </p:spPr>
        <p:txBody>
          <a:bodyPr anchor="ctr">
            <a:noAutofit/>
          </a:bodyPr>
          <a:lstStyle/>
          <a:p>
            <a:pPr algn="ctr"/>
            <a:r>
              <a:rPr lang="en-US" sz="54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flipV="1">
            <a:off x="2975013" y="6088283"/>
            <a:ext cx="2139696" cy="769717"/>
          </a:xfrm>
        </p:spPr>
        <p:txBody>
          <a:bodyPr>
            <a:normAutofit/>
          </a:bodyPr>
          <a:lstStyle/>
          <a:p>
            <a:endParaRPr lang="en-US" dirty="0"/>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636</TotalTime>
  <Words>483</Words>
  <Application>Microsoft Office PowerPoint</Application>
  <PresentationFormat>Widescreen</PresentationFormat>
  <Paragraphs>41</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Agricultural performance is affected by seasonal changes in environmental conditions, farming practices, irrigation methods, resource usage, and market conditions. These factors can influence crop yield, production, water efficiency, revenue, and profit. However, it is difficult to understand these variations directly from raw agricultural data. Therefore, this project analyzes the agricultural dataset to compare performance across different seasons and identify important patterns, relationships, and factors affecting agricultural productivity and profitability.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Guru prasad</cp:lastModifiedBy>
  <cp:revision>99</cp:revision>
  <dcterms:created xsi:type="dcterms:W3CDTF">2021-07-11T13:13:15Z</dcterms:created>
  <dcterms:modified xsi:type="dcterms:W3CDTF">2026-09-07T15:38:53Z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